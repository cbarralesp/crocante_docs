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81b28bfe-5b8a-3fa3-e022-8b0ea28b34c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arco teórico" id="{2b6beb7e-5885-da11-79c0-f9453d44b871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onstrucción" id="{e93ca476-d51a-b84b-0484-6d7d70ee2626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ruebas y conexión" id="{9ea676a9-5643-c0a1-2018-83529c8fa2e4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ierre" id="{f0f72f09-4fd5-b700-5eae-86ded634dbad}">
          <p14:sldIdLst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construimos la primera pieza de un sistema real: guardar un producto en una base de datos y verlo en una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 con un caso cotidiano: nadie tiene una lista confiable de productos y precios.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sistema de venta de comida rápida. Hoy partimos por el módulo de productos por categoría.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claro qué hacemos hoy y qué queda para las clases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categoría tiene muchos productos. La clave foránea productos.categoria_id apunta a categorias.id.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Controller habla directo con el Repository. El Service se agrega en la clase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clase agrega una capa. Hoy es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se comprueba al final: guardar un producto y verlo en Swagger, en la base y en la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conceptos cortos antes de escribir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hace una petición con un verbo y una dirección; el servidor responde con un código de estado y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capa tiene una sola razón para cambiar. En el restaurante: garzón, cocinero, bodega y ficha del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crea los objetos (beans) y los entrega por el constructor. Así las piezas no quedan atadas.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JPA traduce entre objetos y tablas. @Entity es una tabla, cada objeto es una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migración es un archivo SQL con número de versión. No es traspasar datos. Una migración aplicada no se edita.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permite probar cada endpoint con un botón, sin programar un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producción no hay debugger ni nadie mirando la pantalla: el log es la única pista de lo que pasó. Ejemplo: sin log solo sabríamos que respondió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Javadoc explica para qué sirve una clase o método. La cabecera lleva @author, @version y @since. ./mvnw javadoc:javadoc genera el sitio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es una etiqueta de Git: git checkout paso-0N.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Starters y parent fijan versiones. @SpringBootApplication arranca todo. Swagger sale gratis con springdoc.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Controller recibe la petición y devuelve la respuesta. Jackson convierte el Map a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conexión se define en application.yml. Flyway crea las tablas; Hibernate solo valida.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entidad es una fila de la tabla. El repositorio es solo una interfaz: Spring Data genera la implementación.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guarda y responde 201 con Location. GET lista, con filtro opcional por categoría.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formulario necesita las categorías. Mismo patrón que los pasos 3 y 4, aplicado a otra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comprobamos que todo funciona de punta a punta.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out, editar el cuerpo, Execute. Debe responder 201 con el producto y su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muestra lo que responde la API; la consulta SQL confirma que el dato quedó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el log del error vemos qué petición lo causó, qué SQL se envió y qué rechazó la base. Sin él solo sabríamos que respondió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la flecha numerada: petición, Controller, Repository, PostgreSQL y vuelta con 201.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proxy reenvía /api hacia el puerto 8080, así no hace falta CORS. Requiere el backend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Nuevo producto abre el formulario y guarda con POST. Los contadores se recalculan al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Terminamos con lo pendiente, la actividad y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problemas conocidos y esperados; cada uno tiene una clase donde se resuelve.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migración V3 refuerza la regla: no se edita una migración ya aplicada.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evaluación formativa de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la clase 2: mover la lógica al Service y ver por qué el Controller no debe tener reglas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0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azzo\Desktop\Informes\IPSS\DESARROLLO DE SOFTWARE II\clase-01\recursos\logo-ipss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03120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0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azzo\Desktop\Informes\IPSS\DESARROLLO DE SOFTWARE II\clase-01\recursos\logo-ipss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73736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C:\Users\Diegazzo\Desktop\Informes\IPSS\DESARROLLO DE SOFTWARE II\clase-01\recursos\logo-ipss-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4880"/>
            <a:ext cx="86868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Crocante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Crocante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· Primer Controller con Swagger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Web II · Instituto Profesional San Sebastián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necesidad real</a:t>
            </a:r>
            <a:endParaRPr lang="en-US" sz="3200" dirty="0"/>
          </a:p>
        </p:txBody>
      </p:sp>
      <p:sp>
        <p:nvSpPr>
          <p:cNvPr id="4" name="cita"/>
          <p:cNvSpPr/>
          <p:nvPr/>
        </p:nvSpPr>
        <p:spPr>
          <a:xfrm>
            <a:off x="457200" y="123444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02B42"/>
          </a:solidFill>
          <a:ln w="9525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«¿Cuánto cuesta la sopaipilla?»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108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personas, tres respuestas distintas.</a:t>
            </a:r>
            <a:endParaRPr lang="en-US" sz="1800" dirty="0"/>
          </a:p>
        </p:txBody>
      </p:sp>
      <p:sp>
        <p:nvSpPr>
          <p:cNvPr id="7" name="círculo 1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325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y precios están en un cuaderno</a:t>
            </a:r>
            <a:endParaRPr lang="en-US" sz="1800" dirty="0"/>
          </a:p>
        </p:txBody>
      </p:sp>
      <p:sp>
        <p:nvSpPr>
          <p:cNvPr id="10" name="círculo 2"/>
          <p:cNvSpPr/>
          <p:nvPr/>
        </p:nvSpPr>
        <p:spPr>
          <a:xfrm>
            <a:off x="4754880" y="246888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377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da un precio distinto</a:t>
            </a:r>
            <a:endParaRPr lang="en-US" sz="1800" dirty="0"/>
          </a:p>
        </p:txBody>
      </p:sp>
      <p:sp>
        <p:nvSpPr>
          <p:cNvPr id="13" name="círculo 3"/>
          <p:cNvSpPr/>
          <p:nvPr/>
        </p:nvSpPr>
        <p:spPr>
          <a:xfrm>
            <a:off x="4754880" y="352044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lista ordenada por categoría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Nace Crocante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" name="círculo B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y Spring Boot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peticiones y aplica las reglas.</a:t>
            </a:r>
            <a:endParaRPr lang="en-US" sz="1600" dirty="0"/>
          </a:p>
        </p:txBody>
      </p:sp>
      <p:sp>
        <p:nvSpPr>
          <p:cNvPr id="10" name="tarjeta"/>
          <p:cNvSpPr/>
          <p:nvPr/>
        </p:nvSpPr>
        <p:spPr>
          <a:xfrm>
            <a:off x="324612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1" name="círculo D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productos y las categorías.</a:t>
            </a:r>
            <a:endParaRPr lang="en-US" sz="1600" dirty="0"/>
          </a:p>
        </p:txBody>
      </p:sp>
      <p:sp>
        <p:nvSpPr>
          <p:cNvPr id="16" name="tarjeta"/>
          <p:cNvSpPr/>
          <p:nvPr/>
        </p:nvSpPr>
        <p:spPr>
          <a:xfrm>
            <a:off x="603504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7" name="círculo P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Pantalla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lista y el formulario.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Alcance de la clase 1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Hoy construimos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  Registrar un producto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  Listar los productos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  Filtrar por categoría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  Precio mayor a 0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RN-02  La categoría debe existir</a:t>
            </a:r>
            <a:endParaRPr lang="en-US" sz="1700" dirty="0"/>
          </a:p>
        </p:txBody>
      </p:sp>
      <p:sp>
        <p:nvSpPr>
          <p:cNvPr id="7" name="tarjeta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 adelante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y eliminar productos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las categorías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ventas y caja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login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datos</a:t>
            </a:r>
            <a:endParaRPr lang="en-US" sz="3200" dirty="0"/>
          </a:p>
        </p:txBody>
      </p:sp>
      <p:pic>
        <p:nvPicPr>
          <p:cNvPr id="4" name="Diagrama de clases Categoria y Producto" descr="Diagrama de clases Categoria y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66" y="1188720"/>
            <a:ext cx="8198069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categorías cargadas por Flyway:</a:t>
            </a:r>
            <a:endParaRPr lang="en-US" sz="1400" dirty="0"/>
          </a:p>
        </p:txBody>
      </p:sp>
      <p:sp>
        <p:nvSpPr>
          <p:cNvPr id="6" name="chip Papas fritas"/>
          <p:cNvSpPr/>
          <p:nvPr/>
        </p:nvSpPr>
        <p:spPr>
          <a:xfrm>
            <a:off x="457200" y="4160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Papas fritas</a:t>
            </a:r>
            <a:endParaRPr lang="en-US" sz="1200" dirty="0"/>
          </a:p>
        </p:txBody>
      </p:sp>
      <p:sp>
        <p:nvSpPr>
          <p:cNvPr id="8" name="chip Empanadas"/>
          <p:cNvSpPr/>
          <p:nvPr/>
        </p:nvSpPr>
        <p:spPr>
          <a:xfrm>
            <a:off x="2057400" y="4160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0574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Empanadas</a:t>
            </a:r>
            <a:endParaRPr lang="en-US" sz="1200" dirty="0"/>
          </a:p>
        </p:txBody>
      </p:sp>
      <p:sp>
        <p:nvSpPr>
          <p:cNvPr id="10" name="chip Sopaipillas"/>
          <p:cNvSpPr/>
          <p:nvPr/>
        </p:nvSpPr>
        <p:spPr>
          <a:xfrm>
            <a:off x="3657600" y="4160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576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Sopaipillas</a:t>
            </a:r>
            <a:endParaRPr lang="en-US" sz="1200" dirty="0"/>
          </a:p>
        </p:txBody>
      </p:sp>
      <p:sp>
        <p:nvSpPr>
          <p:cNvPr id="12" name="chip Bebidas"/>
          <p:cNvSpPr/>
          <p:nvPr/>
        </p:nvSpPr>
        <p:spPr>
          <a:xfrm>
            <a:off x="5257800" y="4160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2578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1200" dirty="0"/>
          </a:p>
        </p:txBody>
      </p:sp>
      <p:sp>
        <p:nvSpPr>
          <p:cNvPr id="14" name="chip Salsas"/>
          <p:cNvSpPr/>
          <p:nvPr/>
        </p:nvSpPr>
        <p:spPr>
          <a:xfrm>
            <a:off x="6858000" y="4160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del backend</a:t>
            </a:r>
            <a:endParaRPr lang="en-US" sz="3200" dirty="0"/>
          </a:p>
        </p:txBody>
      </p:sp>
      <p:pic>
        <p:nvPicPr>
          <p:cNvPr id="4" name="Clases del backend" descr="Clases del 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17" y="1188720"/>
            <a:ext cx="8022566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Hoja de ruta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46304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102B42"/>
          </a:solidFill>
          <a:ln w="9525">
            <a:solidFill>
              <a:srgbClr val="102B42"/>
            </a:solidFill>
            <a:prstDash val="solid"/>
          </a:ln>
        </p:spPr>
      </p:sp>
      <p:sp>
        <p:nvSpPr>
          <p:cNvPr id="5" name="círculo 1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46888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y base de datos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2121408" y="146304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9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" name="círculo 2"/>
          <p:cNvSpPr/>
          <p:nvPr/>
        </p:nvSpPr>
        <p:spPr>
          <a:xfrm>
            <a:off x="2624328" y="1691640"/>
            <a:ext cx="548640" cy="54864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2432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231136" y="246888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y reglas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3785616" y="146304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9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3" name="círculo 3"/>
          <p:cNvSpPr/>
          <p:nvPr/>
        </p:nvSpPr>
        <p:spPr>
          <a:xfrm>
            <a:off x="4288536" y="1691640"/>
            <a:ext cx="548640" cy="54864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8853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95344" y="246888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DTO, validación y errores</a:t>
            </a:r>
            <a:endParaRPr lang="en-US" sz="1500" dirty="0"/>
          </a:p>
        </p:txBody>
      </p:sp>
      <p:sp>
        <p:nvSpPr>
          <p:cNvPr id="16" name="tarjeta"/>
          <p:cNvSpPr/>
          <p:nvPr/>
        </p:nvSpPr>
        <p:spPr>
          <a:xfrm>
            <a:off x="5449824" y="146304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9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7" name="círculo 4"/>
          <p:cNvSpPr/>
          <p:nvPr/>
        </p:nvSpPr>
        <p:spPr>
          <a:xfrm>
            <a:off x="5952744" y="1691640"/>
            <a:ext cx="548640" cy="54864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527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559552" y="246888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U1</a:t>
            </a:r>
            <a:endParaRPr lang="en-US" sz="1500" dirty="0"/>
          </a:p>
        </p:txBody>
      </p:sp>
      <p:sp>
        <p:nvSpPr>
          <p:cNvPr id="20" name="tarjeta"/>
          <p:cNvSpPr/>
          <p:nvPr/>
        </p:nvSpPr>
        <p:spPr>
          <a:xfrm>
            <a:off x="7114032" y="146304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3F5F9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1" name="círculo 5"/>
          <p:cNvSpPr/>
          <p:nvPr/>
        </p:nvSpPr>
        <p:spPr>
          <a:xfrm>
            <a:off x="7616952" y="1691640"/>
            <a:ext cx="548640" cy="54864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95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246888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y JPA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 la clase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102B42"/>
          </a:solidFill>
          <a:ln w="9525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producto enviado desde Swagger o Angular queda guardado en PostgreSQL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hace @SpringBootApplication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Controller que responde JSON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Spring Boot a PostgreSQL con Flyway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una tabla a una clase con JPA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Swagger y levantar el Angular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Marco teórico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que sostienen el código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 y REST</a:t>
            </a:r>
            <a:endParaRPr lang="en-US" sz="32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492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468880"/>
                <a:gridCol w="1188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Pedir datos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para crear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un registro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/api/productos/3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un registro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/api/productos/3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arjeta"/>
          <p:cNvSpPr/>
          <p:nvPr/>
        </p:nvSpPr>
        <p:spPr>
          <a:xfrm>
            <a:off x="7132320" y="128016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223760" y="13533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722376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713232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23760" y="2221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7132320" y="301752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del servidor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organiza la API en recursos (productos, categorías). Los datos viajan en JSON.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en capas</a:t>
            </a:r>
            <a:endParaRPr lang="en-US" sz="3200" dirty="0"/>
          </a:p>
        </p:txBody>
      </p:sp>
      <p:sp>
        <p:nvSpPr>
          <p:cNvPr id="4" name="capa Cliente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o Angular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8" name="capa Controller"/>
          <p:cNvSpPr/>
          <p:nvPr/>
        </p:nvSpPr>
        <p:spPr>
          <a:xfrm>
            <a:off x="212140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21408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21408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y responde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capa Service"/>
          <p:cNvSpPr/>
          <p:nvPr/>
        </p:nvSpPr>
        <p:spPr>
          <a:xfrm>
            <a:off x="378561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785616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785616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negocio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48656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capa Repository"/>
          <p:cNvSpPr/>
          <p:nvPr/>
        </p:nvSpPr>
        <p:spPr>
          <a:xfrm>
            <a:off x="544982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49824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9824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recupera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12864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capa PostgreSQL"/>
          <p:cNvSpPr/>
          <p:nvPr/>
        </p:nvSpPr>
        <p:spPr>
          <a:xfrm>
            <a:off x="711403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14032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14032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permanentes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785616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entra en la clase 2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7216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solo habla con su vecina. Si cambia la dirección de un endpoint, se toca el Controller; si cambia dónde se guardan los datos, el Repository.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e inyección de dependencias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Spring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inyección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ProductoRepository repo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ImplementacionConcreta();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Controller queda atado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esa clase</a:t>
            </a:r>
            <a:endParaRPr lang="en-US" sz="1300" dirty="0"/>
          </a:p>
        </p:txBody>
      </p:sp>
      <p:sp>
        <p:nvSpPr>
          <p:cNvPr id="7" name="código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Spring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9344"/>
            <a:ext cx="3749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 inyección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ProductoController(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ProductoRepository repositorio)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this.repositorio = repositorio;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que crea y administra Spring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@SpringBootApplication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las clases anotadas del paquete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JPA: de la tabla a la clase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657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productos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bigserial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    varchar(120),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precio     numeric(12,2),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disponible boolean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4754880" y="1280160"/>
            <a:ext cx="3931920" cy="2468880"/>
          </a:xfrm>
          <a:prstGeom prst="roundRect">
            <a:avLst>
              <a:gd name="adj" fmla="val 2222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609344"/>
            <a:ext cx="3657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"productos")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Long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nombre;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BigDecimal precio;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disponible;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siempre con BigDecimal, nunca con double.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genera el repositorio: solo escribimos la interfaz.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Flyway: la base con versiones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02B42"/>
          </a:solidFill>
          <a:ln w="9525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= archivo SQL con versión. No es traspasar datos de un sistema antiguo.</a:t>
            </a:r>
            <a:endParaRPr lang="en-US" sz="1900" dirty="0"/>
          </a:p>
        </p:txBody>
      </p:sp>
      <p:graphicFrame>
        <p:nvGraphicFramePr>
          <p:cNvPr id="1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V1__crear_tablas.sql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categorias y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V2__categorias_iniciales.sql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Inserta 5 categorías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V3__categoria_postres.sql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 la categoría Postres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una migración ya aplicada no se edita; se agrega una nueva.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Swagger y OpenAPI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describe la API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la muestra y permite probarla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lo genera leyendo los controllers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/swagger-ui/index.html</a:t>
            </a:r>
            <a:endParaRPr lang="en-US" sz="1700" dirty="0"/>
          </a:p>
        </p:txBody>
      </p:sp>
      <p:pic>
        <p:nvPicPr>
          <p:cNvPr id="5" name="Swagger UI con los endpoints" descr="Swagger UI con los end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494358"/>
            <a:ext cx="4754880" cy="26805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Logs: la memoria de la aplicación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ordenado de lo que hace la aplicación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no hay depurador: el log es la pista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diagnosticar, seguir una operación y dar soporte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registrar claves ni datos sensibles</a:t>
            </a:r>
            <a:endParaRPr lang="en-US" sz="1700" dirty="0"/>
          </a:p>
        </p:txBody>
      </p:sp>
      <p:graphicFrame>
        <p:nvGraphicFramePr>
          <p:cNvPr id="1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usa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falló y no se completó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inesperado, pero sigue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y fin de un proceso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DEBUG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técnico (el SQL)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Crocante: INFO general y DEBUG solo para nuestro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Javadoc: el manual del código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206240" cy="3108960"/>
          </a:xfrm>
          <a:prstGeom prst="roundRect">
            <a:avLst>
              <a:gd name="adj" fmla="val 1765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Cabecera de una clase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93192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Controller de productos.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Guarda y lista los productos.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@author cbarrale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@version 1.0.0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@since 1.0.0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ProductoController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3258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para qué sirve, no cómo está escrito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lo muestra al pasar el cursor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públicos: @param y @return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./mvnw javadoc:javadoc genera el sitio HTML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a paso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 vacío a guardar en la base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0: proyecto con Swagger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&lt;groupId&gt;org.springdoc&lt;/groupId&gt;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&lt;artifactId&gt;springdoc-openapi-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starter-webmvc-ui&lt;/artifactId&gt;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&lt;version&gt;2.8.13&lt;/version&gt;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206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CrocanteApplication.java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9344"/>
            <a:ext cx="3749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CrocanteApplication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SpringApplication.run(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CrocanteApplication.class, 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57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Comprobar: abrir /swagger-ui/index.html y ver «API Crocante».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1: primer Controller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754880" cy="3017520"/>
          </a:xfrm>
          <a:prstGeom prst="roundRect">
            <a:avLst>
              <a:gd name="adj" fmla="val 1818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SaludController.java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44805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@RequestMapping("/api/salud")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SaludController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Map&lt;String, String&gt; estado()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Map.of("estado", "ok",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"aplicacion", "Crocante");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arjeta"/>
          <p:cNvSpPr/>
          <p:nvPr/>
        </p:nvSpPr>
        <p:spPr>
          <a:xfrm>
            <a:off x="5486400" y="1280160"/>
            <a:ext cx="32004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5087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JSON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base de la clase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el verbo GET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2: PostgreSQL y Flyway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application.yml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url: ${DB_URL:jdbc:postgresql://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localhost:5432/crocante}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${DB_USER:crocante}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${DB_PASSWORD:crocante}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hibernate: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ddl-auto: validate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V1__crear_tablas.sql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9344"/>
            <a:ext cx="37490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productos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bigserial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varchar(120) not null,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precio numeric(12,2) not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(precio &gt; 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disponible boolean default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categoria_id bigint not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categorias (id)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3: entidad y repositorio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3154680"/>
          </a:xfrm>
          <a:prstGeom prst="roundRect">
            <a:avLst>
              <a:gd name="adj" fmla="val 173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Producto.java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"productos")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@GeneratedValue(strategy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GenerationType.IDENTITY)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nombre;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BigDecimal precio;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boolean disponible;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categoriaId;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ProductoRepository.java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9344"/>
            <a:ext cx="3749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ProductoRepository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JpaRepository&lt;Producto, Long&gt;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List&lt;Producto&gt; findByCategoriaId(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categoriaId);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findByCategoriaId se traduce solo a where categoria_id = 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4: guardar productos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937760" cy="3154680"/>
          </a:xfrm>
          <a:prstGeom prst="roundRect">
            <a:avLst>
              <a:gd name="adj" fmla="val 173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ProductoController.java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46634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ResponseEntity&lt;Producto&gt; crear(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@RequestBody Producto producto)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producto.setId(null);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Producto guardado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repositorio.save(producto);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ResponseEntity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.created(URI.create("/api/productos/"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guardado.getId()))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.body(guardado);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arjeta"/>
          <p:cNvSpPr/>
          <p:nvPr/>
        </p:nvSpPr>
        <p:spPr>
          <a:xfrm>
            <a:off x="5577840" y="1280160"/>
            <a:ext cx="3108960" cy="31546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5087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@RequestBody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 objeto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setId(null)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 lo decide la base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cabecera Location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5: listar categorías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754880" cy="3017520"/>
          </a:xfrm>
          <a:prstGeom prst="roundRect">
            <a:avLst>
              <a:gd name="adj" fmla="val 1818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CategoriaController.java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44805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@RequestMapping("/api/categorias")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CategoriaController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List&lt;Categoria&gt; listar()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repositorio.findAll(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Sort.by("id"));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arjeta"/>
          <p:cNvSpPr/>
          <p:nvPr/>
        </p:nvSpPr>
        <p:spPr>
          <a:xfrm>
            <a:off x="5486400" y="1280160"/>
            <a:ext cx="32004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Mismo patrón, otra tabla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331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Entidad, repositorio y controller. Así crece el proyecto: repetir un patrón que ya funciona.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Probar y conectar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la base de datos y la pantalla Angular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Probar con Swagger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POST /api/productos, pulsar Try it out y escribir el cuerpo:</a:t>
            </a:r>
            <a:endParaRPr lang="en-US" sz="1600" dirty="0"/>
          </a:p>
        </p:txBody>
      </p:sp>
      <p:pic>
        <p:nvPicPr>
          <p:cNvPr id="5" name="Cuerpo de la petición y botón Execute" descr="Cuerpo de la petición y botón Exec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81512"/>
            <a:ext cx="4023360" cy="23062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de la petición y botón Execute</a:t>
            </a:r>
            <a:endParaRPr lang="en-US" sz="1400" dirty="0"/>
          </a:p>
        </p:txBody>
      </p:sp>
      <p:pic>
        <p:nvPicPr>
          <p:cNvPr id="7" name="Respuesta 201 con el producto y su id" descr="Respuesta 201 con el producto y su 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81512"/>
            <a:ext cx="4023360" cy="23062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201 con el producto y su 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Verificar en PostgreSQL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 SQL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p.id, p.nombre, p.precio,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c.nombre as categoria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productos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categorias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c.id = p.categoria_id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p.id;</a:t>
            </a:r>
            <a:endParaRPr lang="en-US" sz="1200" dirty="0"/>
          </a:p>
        </p:txBody>
      </p:sp>
      <p:sp>
        <p:nvSpPr>
          <p:cNvPr id="7" name="código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9344"/>
            <a:ext cx="3749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|      nombre       | precio  | categoria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----+-------------------+---------+-----------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| Empanada de queso | 1800.00 | Empanadas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fila)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466344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3108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categoría no existe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foránea rechaza el producto y la API responde 500. Es esperado: lo corrige la clase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Leer los logs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075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 un producto correctamente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63624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22:38:55 INFO  ProductoController - --- inicio guardar producto - nombre: Empanada de queso categoria id: 2 ---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22:38:55 DEBUG SQL - insert into productos (categoria_id,disponible,nombre,precio) values (?,?,?,?)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22:38:55 INFO  ProductoController - --- fin guardar producto - id asignado: 1 ---</a:t>
            </a:r>
            <a:endParaRPr lang="en-US" sz="1000" dirty="0"/>
          </a:p>
        </p:txBody>
      </p:sp>
      <p:sp>
        <p:nvSpPr>
          <p:cNvPr id="7" name="código"/>
          <p:cNvSpPr/>
          <p:nvPr/>
        </p:nvSpPr>
        <p:spPr>
          <a:xfrm>
            <a:off x="457200" y="2560320"/>
            <a:ext cx="8229600" cy="1508760"/>
          </a:xfrm>
          <a:prstGeom prst="roundRect">
            <a:avLst>
              <a:gd name="adj" fmla="val 3636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6334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 con una categoría que no existe (999)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9504"/>
            <a:ext cx="79552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22:38:56 INFO  ProductoController - --- inicio guardar producto - nombre: Fantasma categoria id: 999 ---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22:38:56 DEBUG SQL - insert into productos (categoria_id,disponible,nombre,precio) values (?,?,?,?)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22:38:56 ERROR SqlExceptionHelper - ERROR: inserción o actualización en la tabla «productos» viola la llave foránea «fk_productos_categorias»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Detail: La llave (categoria_id)=(999) no está presente en la tabla «categorias».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qué petición  ·  DEBUG: qué SQL  ·  ERROR: la causa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pasa al guardar</a:t>
            </a:r>
            <a:endParaRPr lang="en-US" sz="3200" dirty="0"/>
          </a:p>
        </p:txBody>
      </p:sp>
      <p:pic>
        <p:nvPicPr>
          <p:cNvPr id="4" name="Diagrama de secuencia del POST" descr="Diagrama de secuencia del P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175" y="1188720"/>
            <a:ext cx="634365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el Angular</a:t>
            </a:r>
            <a:endParaRPr lang="en-US" sz="3200" dirty="0"/>
          </a:p>
        </p:txBody>
      </p:sp>
      <p:sp>
        <p:nvSpPr>
          <p:cNvPr id="4" name="código"/>
          <p:cNvSpPr/>
          <p:nvPr/>
        </p:nvSpPr>
        <p:spPr>
          <a:xfrm>
            <a:off x="457200" y="128016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0934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crocante-frontend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300" dirty="0"/>
          </a:p>
        </p:txBody>
      </p:sp>
      <p:sp>
        <p:nvSpPr>
          <p:cNvPr id="7" name="código"/>
          <p:cNvSpPr/>
          <p:nvPr/>
        </p:nvSpPr>
        <p:spPr>
          <a:xfrm>
            <a:off x="457200" y="265176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0F1424"/>
          </a:solidFill>
          <a:ln w="6350">
            <a:solidFill>
              <a:srgbClr val="0F14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proxy.conf.json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80944"/>
            <a:ext cx="3749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"/api":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"http://localhost:8080",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"secure":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0" name="Pantalla de Crocante" descr="Pantalla de Croc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70609"/>
            <a:ext cx="4023360" cy="23737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44622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http://localhost:4200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pantalla en acción</a:t>
            </a:r>
            <a:endParaRPr lang="en-US" sz="3200" dirty="0"/>
          </a:p>
        </p:txBody>
      </p:sp>
      <p:pic>
        <p:nvPicPr>
          <p:cNvPr id="4" name="Categorías con contadores" descr="Categorías con conta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672" y="1234440"/>
            <a:ext cx="3364415" cy="3200400"/>
          </a:xfrm>
          <a:prstGeom prst="rect">
            <a:avLst/>
          </a:prstGeom>
        </p:spPr>
      </p:pic>
      <p:pic>
        <p:nvPicPr>
          <p:cNvPr id="5" name="Listado de productos" descr="Listado de produc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33" y="1234440"/>
            <a:ext cx="3269974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 y qué haremos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todavía no está bien</a:t>
            </a:r>
            <a:endParaRPr lang="en-US" sz="3200" dirty="0"/>
          </a:p>
        </p:txBody>
      </p:sp>
      <p:graphicFrame>
        <p:nvGraphicFramePr>
          <p:cNvPr id="3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es un problema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resuelve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usa el Repository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reglas no tienen dónde vivir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API expone la entidad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 atada a la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vacío falla en la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500 sin mensaje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inexistente: 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cliente no sabe qué corregir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guarda y lista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modificar y eliminar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C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 en parejas</a:t>
            </a:r>
            <a:endParaRPr lang="en-US" sz="3200" dirty="0"/>
          </a:p>
        </p:txBody>
      </p:sp>
      <p:sp>
        <p:nvSpPr>
          <p:cNvPr id="4" name="círculo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cinco productos en tres categorías</a:t>
            </a:r>
            <a:endParaRPr lang="en-US" sz="1800" dirty="0"/>
          </a:p>
        </p:txBody>
      </p:sp>
      <p:sp>
        <p:nvSpPr>
          <p:cNvPr id="7" name="círculo 2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Verlos en la pantalla y filtrar por categoría</a:t>
            </a:r>
            <a:endParaRPr lang="en-US" sz="1800" dirty="0"/>
          </a:p>
        </p:txBody>
      </p:sp>
      <p:sp>
        <p:nvSpPr>
          <p:cNvPr id="10" name="círculo 3"/>
          <p:cNvSpPr/>
          <p:nvPr/>
        </p:nvSpPr>
        <p:spPr>
          <a:xfrm>
            <a:off x="457200" y="2368296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feature/nombre-categoria-postres</a:t>
            </a:r>
            <a:endParaRPr lang="en-US" sz="1800" dirty="0"/>
          </a:p>
        </p:txBody>
      </p:sp>
      <p:sp>
        <p:nvSpPr>
          <p:cNvPr id="13" name="círculo 4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V3__categoria_postres.sql (no editar V2)</a:t>
            </a:r>
            <a:endParaRPr lang="en-US" sz="1800" dirty="0"/>
          </a:p>
        </p:txBody>
      </p:sp>
      <p:sp>
        <p:nvSpPr>
          <p:cNvPr id="16" name="círculo 5"/>
          <p:cNvSpPr/>
          <p:nvPr/>
        </p:nvSpPr>
        <p:spPr>
          <a:xfrm>
            <a:off x="457200" y="3502152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Reiniciar, ver la V3 en el log y abrir un Pull Request</a:t>
            </a:r>
            <a:endParaRPr lang="en-US" sz="1800" dirty="0"/>
          </a:p>
        </p:txBody>
      </p:sp>
      <p:sp>
        <p:nvSpPr>
          <p:cNvPr id="19" name="círculo 6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102B42"/>
          </a:solidFill>
          <a:ln w="6350">
            <a:solidFill>
              <a:srgbClr val="102B4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los logs al guardar y generar el Javadoc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B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Preguntas de cierre</a:t>
            </a:r>
            <a:endParaRPr lang="en-US" sz="3200" dirty="0"/>
          </a:p>
        </p:txBody>
      </p:sp>
      <p:sp>
        <p:nvSpPr>
          <p:cNvPr id="4" name="círculo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@SpringBootApplication?</a:t>
            </a:r>
            <a:endParaRPr lang="en-US" sz="1800" dirty="0"/>
          </a:p>
        </p:txBody>
      </p:sp>
      <p:sp>
        <p:nvSpPr>
          <p:cNvPr id="7" name="círculo 2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migración de Flyway?</a:t>
            </a:r>
            <a:endParaRPr lang="en-US" sz="1800" dirty="0"/>
          </a:p>
        </p:txBody>
      </p:sp>
      <p:sp>
        <p:nvSpPr>
          <p:cNvPr id="10" name="círculo 3"/>
          <p:cNvSpPr/>
          <p:nvPr/>
        </p:nvSpPr>
        <p:spPr>
          <a:xfrm>
            <a:off x="457200" y="2368296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crea el ProductoRepository si solo escribimos la interfaz?</a:t>
            </a:r>
            <a:endParaRPr lang="en-US" sz="1800" dirty="0"/>
          </a:p>
        </p:txBody>
      </p:sp>
      <p:sp>
        <p:nvSpPr>
          <p:cNvPr id="13" name="círculo 4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la API si la categoría no existe?</a:t>
            </a:r>
            <a:endParaRPr lang="en-US" sz="1800" dirty="0"/>
          </a:p>
        </p:txBody>
      </p:sp>
      <p:sp>
        <p:nvSpPr>
          <p:cNvPr id="16" name="círculo 5"/>
          <p:cNvSpPr/>
          <p:nvPr/>
        </p:nvSpPr>
        <p:spPr>
          <a:xfrm>
            <a:off x="457200" y="3502152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el proxy de Angular?</a:t>
            </a:r>
            <a:endParaRPr lang="en-US" sz="1800" dirty="0"/>
          </a:p>
        </p:txBody>
      </p:sp>
      <p:sp>
        <p:nvSpPr>
          <p:cNvPr id="19" name="círculo 6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importan los logs y el Javadoc?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Próxima clase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Service: las reglas salen del Controller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cante IPSS">
  <a:themeElements>
    <a:clrScheme name="Crocante IPSS">
      <a:dk1>
        <a:srgbClr val="111C2D"/>
      </a:dk1>
      <a:lt1>
        <a:srgbClr val="FFFFFF"/>
      </a:lt1>
      <a:dk2>
        <a:srgbClr val="102B42"/>
      </a:dk2>
      <a:lt2>
        <a:srgbClr val="F3F5F9"/>
      </a:lt2>
      <a:accent1>
        <a:srgbClr val="F97316"/>
      </a:accent1>
      <a:accent2>
        <a:srgbClr val="15803D"/>
      </a:accent2>
      <a:accent3>
        <a:srgbClr val="1D4ED8"/>
      </a:accent3>
      <a:accent4>
        <a:srgbClr val="6D28D9"/>
      </a:accent4>
      <a:accent5>
        <a:srgbClr val="B45309"/>
      </a:accent5>
      <a:accent6>
        <a:srgbClr val="BE185D"/>
      </a:accent6>
      <a:hlink>
        <a:srgbClr val="1D4ED8"/>
      </a:hlink>
      <a:folHlink>
        <a:srgbClr val="6D28D9"/>
      </a:folHlink>
    </a:clrScheme>
    <a:fontScheme name="Crocante IPSS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Instituto Profesional San Sebastián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Crocante - Clase 1</dc:title>
  <dc:subject>PptxGenJS Presentation</dc:subject>
  <dc:creator>Desarrollo de Software Web II</dc:creator>
  <cp:lastModifiedBy>Desarrollo de Software Web II</cp:lastModifiedBy>
  <cp:revision>1</cp:revision>
  <dcterms:created xsi:type="dcterms:W3CDTF">2026-10-14T01:42:39Z</dcterms:created>
  <dcterms:modified xsi:type="dcterms:W3CDTF">2026-10-14T01:42:39Z</dcterms:modified>
</cp:coreProperties>
</file>