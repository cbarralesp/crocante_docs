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9e5dc08-6493-28b2-918b-c1b5624fe7b9}">
          <p14:sldIdLst>
            <p14:sldId id="256"/>
            <p14:sldId id="257"/>
            <p14:sldId id="258"/>
            <p14:sldId id="259"/>
          </p14:sldIdLst>
        </p14:section>
        <p14:section name="Análisis" id="{6530e476-135e-964d-041e-01ab67b5e567}">
          <p14:sldIdLst>
            <p14:sldId id="260"/>
            <p14:sldId id="261"/>
            <p14:sldId id="262"/>
          </p14:sldIdLst>
        </p14:section>
        <p14:section name="Teoría MVC" id="{dd445609-184e-9433-faa8-52e11d5e0d71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iseño" id="{a7924a03-681f-4efb-2e63-2b0d827fa6d7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Logs" id="{66fb901a-ddf9-fac2-0291-bd91f9008093}">
          <p14:sldIdLst>
            <p14:sldId id="278"/>
            <p14:sldId id="279"/>
          </p14:sldIdLst>
        </p14:section>
        <p14:section name="Paso a paso" id="{dff3e83d-6496-bd34-1845-12931b6d5bf4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Cierre" id="{15a5fb98-7a8a-5764-4e35-4cba478b3b68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pasamos de un controller que guarda a una arquitectura completa en capas, con un CRUD terminado y 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cotidiano: familias con varias tarjetas Bip! sin control centralizado.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único actor, sin autenticación. En un caso real se agregaría Spring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regla se valida en un lugar concreto; lo veremos en los tres niveles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casos de uso responden qué necesita hacer el usuario, antes de pensar en clases o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el diagrama: actor, óvalos, include (siempre) y extend (a veces).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óvalo es un objetivo, no un método. En un CRUD simple cada caso principal termina en un endpoint y un método del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arquitectura tradicional de una aplicación Spring Boot.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todo está en el controller, cualquier cambio rompe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recibe HTTP; Service aplica reglas; Repository accede a datos; Entity representa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/api/tarjetas: Angular, Controller (@Valid), Service, Mapper, Repository, Mapper, Controller (201).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devolvieras la Entity expondrías campos internos y atarías el JSON a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Defensa en profundidad: DTO para mensajes claros, Service para el negocio, BD como última barrera.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las páginas conocen el store y solo el store conoce al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patrón es una idea para organizar clases, no código para copiar.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diagramas muestran la estructura y el comportamiento antes de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punteada con triángulo = implementa; flecha = usa; punteada = depende.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Entity con sus enums y los tres DTO de entrada y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handler global traduce las excepciones a ApiError.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feliz de POST /api/tarjetas.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service lanza la excepción y el handler global la traduce a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tabla porque no hay login. Flyway versiona el esquema.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logs atraviesan todas las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--- texto: {} ---. Declarar el Logger a mano, sin Lombok.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trabaja en tarjetas-backend-base y se compara con tarjetas-backend.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pasa al siguiente paso hasta que la verificación salga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Entity representa la tabla; el repository guarda sin escribir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DTO son records con validaciones; el handler traduce excepciones a ApiError.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RN-02 en el service: existsByNumero antes de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controller no tiene lógica de negocio: traduce HTTP a service y de vuelta.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http://localhost:8082/swagger-ui.html, Try it out,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con @WebMvcTest y service mockeado; Service con repository mockeado.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proxy reenvía /api al backend en 8082; el navegador usa un solo origen.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los problemas frecuentes antes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de checksum de Flyway es el más común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pareja avanza por pasos y verifica después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evaluación formativa de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la próxima clase y dejar el desafío opcional.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0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azzo\Desktop\Informes\IPSS\DESARROLLO DE SOFTWARE II\clase-02\recursos\logo-ipss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03120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0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azzo\Desktop\Informes\IPSS\DESARROLLO DE SOFTWARE II\clase-02\recursos\logo-ipss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73736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C:\Users\Diegazzo\Desktop\Informes\IPSS\DESARROLLO DE SOFTWARE II\clase-02\recursos\logo-ipss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4880"/>
            <a:ext cx="86868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Bip!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CRUD de tarjetas Bip!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· Arquitectura MVC en capas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Web II · Instituto Profesional San Sebastián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cita"/>
          <p:cNvSpPr/>
          <p:nvPr/>
        </p:nvSpPr>
        <p:spPr>
          <a:xfrm>
            <a:off x="457200" y="123444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02B42"/>
          </a:solidFill>
          <a:ln w="9525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«¿Cuál tarjeta es de quién y cuánto saldo le queda?»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familia maneja entre 3 y 6 tarjetas.</a:t>
            </a:r>
            <a:endParaRPr lang="en-US" sz="1600" dirty="0"/>
          </a:p>
        </p:txBody>
      </p:sp>
      <p:sp>
        <p:nvSpPr>
          <p:cNvPr id="7" name="círculo 1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tarjetas</a:t>
            </a:r>
            <a:endParaRPr lang="en-US" sz="1800" dirty="0"/>
          </a:p>
        </p:txBody>
      </p:sp>
      <p:sp>
        <p:nvSpPr>
          <p:cNvPr id="10" name="círculo 2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saldo y estado</a:t>
            </a:r>
            <a:endParaRPr lang="en-US" sz="1800" dirty="0"/>
          </a:p>
        </p:txBody>
      </p:sp>
      <p:sp>
        <p:nvSpPr>
          <p:cNvPr id="13" name="círculo 3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2926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y bloquear</a:t>
            </a:r>
            <a:endParaRPr lang="en-US" sz="1800" dirty="0"/>
          </a:p>
        </p:txBody>
      </p:sp>
      <p:sp>
        <p:nvSpPr>
          <p:cNvPr id="16" name="círculo 4"/>
          <p:cNvSpPr/>
          <p:nvPr/>
        </p:nvSpPr>
        <p:spPr>
          <a:xfrm>
            <a:off x="4754880" y="370332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con confirmación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Alcance y requerimientos</a:t>
            </a:r>
            <a:endParaRPr lang="en-US" sz="3200" dirty="0"/>
          </a:p>
        </p:txBody>
      </p:sp>
      <p:graphicFrame>
        <p:nvGraphicFramePr>
          <p:cNvPr id="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tarjeta (número, titular, alias, tipo, saldo)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tarjetas con saldo y 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número, titular o alias; filtrar por 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titular, alias, tipo, saldo y 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con confirmación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RF-06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Resumen: total, activas y saldo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login: un solo actor, el usuario o administrador familiar.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Reglas de negocio</a:t>
            </a:r>
            <a:endParaRPr lang="en-US" sz="32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valida 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8 a 10 dígitos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DTO, BD y 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único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y BD (UNIQUE)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número no se modifica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y DTO de edición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Titular obligatorio (máx. 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DTO, BD y 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entre $0 y $100.000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DTO, BD y 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Tipos: NORMAL, TNE_ESCOLAR, TNE_SUPERIOR, ADULTO_MAYOR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y 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RN-07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tarjeta nace ACTIVA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(@PrePersist)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diseña, después se programa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</a:t>
            </a:r>
            <a:endParaRPr lang="en-US" sz="32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064" y="1143000"/>
            <a:ext cx="5014913" cy="3566160"/>
          </a:xfrm>
          <a:prstGeom prst="rect">
            <a:avLst/>
          </a:prstGeom>
        </p:spPr>
      </p:pic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usa el 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Óvalo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objetivo del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«include»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«extend»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6" name="tarjeta"/>
          <p:cNvSpPr/>
          <p:nvPr/>
        </p:nvSpPr>
        <p:spPr>
          <a:xfrm>
            <a:off x="5669280" y="33832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85216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= siempre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a veces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caso de uso al código</a:t>
            </a:r>
            <a:endParaRPr lang="en-US" sz="32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1554480"/>
                <a:gridCol w="2286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CU-01 Listar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/api/tarjetas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/api/tarjetas/{id}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findById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CU-03 Registrar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/api/tarjetas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existsByNumero, save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CU-04 Editar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/api/tarjetas/{id}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findById, save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CU-05 Eliminar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/api/tarjetas/{id}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existsById, deleteById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CU-02 Buscar / resumen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MVC en capas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responsabilidad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separar en capas?</a:t>
            </a:r>
            <a:endParaRPr lang="en-US" sz="3200" dirty="0"/>
          </a:p>
        </p:txBody>
      </p:sp>
      <p:graphicFrame>
        <p:nvGraphicFramePr>
          <p:cNvPr id="1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 esto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Consecuencia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Cambias de base de datos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Reescribes el controller completo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Quieres probar una regla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Necesitas levantar servidor y BD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pantallas usan la misma regla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Copias y pegas código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el formato del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Rompes la lógica sin querer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capas con una sola responsabilidad, donde cada una solo habla con la de abajo.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capas del backend</a:t>
            </a:r>
            <a:endParaRPr lang="en-US" sz="3200" dirty="0"/>
          </a:p>
        </p:txBody>
      </p:sp>
      <p:pic>
        <p:nvPicPr>
          <p:cNvPr id="4" name="Capas del backend" descr="Capas del 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77264"/>
            <a:ext cx="4206240" cy="2897632"/>
          </a:xfrm>
          <a:prstGeom prst="rect">
            <a:avLst/>
          </a:prstGeom>
        </p:spPr>
      </p:pic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Tener lógica de negocio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Conocer 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Tener reglas de negocio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Salir al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 / 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Contener lógica ni acceder a 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Viaje de una petición</a:t>
            </a:r>
            <a:endParaRPr lang="en-US" sz="3200" dirty="0"/>
          </a:p>
        </p:txBody>
      </p:sp>
      <p:pic>
        <p:nvPicPr>
          <p:cNvPr id="4" name="Viaje de una petición" descr="Viaje de una peti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97187"/>
            <a:ext cx="8412480" cy="27262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hace una sola cosa y el dato cambia de forma al cruzar cada frontera: JSON, DTO, Entity, fila.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DTO, Entity e interfaces</a:t>
            </a:r>
            <a:endParaRPr lang="en-US" sz="32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389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Pertenece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CrearTarjetaRequest, TarjetaResponse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contrato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TarjetaBip (Entity)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código"/>
          <p:cNvSpPr/>
          <p:nvPr/>
        </p:nvSpPr>
        <p:spPr>
          <a:xfrm>
            <a:off x="5029200" y="128016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166360" y="1353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Inyección por constructor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166360" y="1609344"/>
            <a:ext cx="33832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TarjetaBipController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TarjetaBipService svc;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TarjetaBipController(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TarjetaBipService svc)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this.svc = svc;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0175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controller conoce la interfaz; Spring le entrega la implementación. En pruebas se reemplaza por un mock.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en tres niveles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" name="círculo 1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DTO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@NotBlank, @Pattern, @DecimalMax, @Valid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con detalle por campo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3246120" y="128016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1" name="círculo 2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Service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existsByNumero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si el número ya existe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6035040" y="128016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7" name="círculo 3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Base de datos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CHECK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por integridad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MVC en Angular</a:t>
            </a:r>
            <a:endParaRPr lang="en-US" sz="3200" dirty="0"/>
          </a:p>
        </p:txBody>
      </p:sp>
      <p:pic>
        <p:nvPicPr>
          <p:cNvPr id="4" name="MVC en Angular" descr="MVC en Ang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188720"/>
            <a:ext cx="7607808" cy="2377440"/>
          </a:xfrm>
          <a:prstGeom prst="rect">
            <a:avLst/>
          </a:prstGeom>
        </p:spPr>
      </p:pic>
      <p:sp>
        <p:nvSpPr>
          <p:cNvPr id="5" name="tarjeta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3E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los componentes reciben datos (input) y emiten eventos (output).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Patrones de diseño y SOLID</a:t>
            </a:r>
            <a:endParaRPr lang="en-US" sz="3200" dirty="0"/>
          </a:p>
        </p:txBody>
      </p:sp>
      <p:graphicFrame>
        <p:nvGraphicFramePr>
          <p:cNvPr id="1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aparece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 / Service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Controller, Service, 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TarjetaBipRepository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 y 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Request/Response y TarjetaBipMapper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de 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Constructores, inject()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(AOP)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@RestControllerAdvice, @Transactional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/ Facade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y TarjetasStore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chip S · Responsabilidad única"/>
          <p:cNvSpPr/>
          <p:nvPr/>
        </p:nvSpPr>
        <p:spPr>
          <a:xfrm>
            <a:off x="6400800" y="1325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Responsabilidad única</a:t>
            </a:r>
            <a:endParaRPr lang="en-US" sz="1200" dirty="0"/>
          </a:p>
        </p:txBody>
      </p:sp>
      <p:sp>
        <p:nvSpPr>
          <p:cNvPr id="7" name="chip O · Abierto y cerrado"/>
          <p:cNvSpPr/>
          <p:nvPr/>
        </p:nvSpPr>
        <p:spPr>
          <a:xfrm>
            <a:off x="6400800" y="18745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· Abierto y cerrado</a:t>
            </a:r>
            <a:endParaRPr lang="en-US" sz="1200" dirty="0"/>
          </a:p>
        </p:txBody>
      </p:sp>
      <p:sp>
        <p:nvSpPr>
          <p:cNvPr id="9" name="chip L · Sustitución (mocks)"/>
          <p:cNvSpPr/>
          <p:nvPr/>
        </p:nvSpPr>
        <p:spPr>
          <a:xfrm>
            <a:off x="6400800" y="242316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Sustitución (mocks)</a:t>
            </a:r>
            <a:endParaRPr lang="en-US" sz="1200" dirty="0"/>
          </a:p>
        </p:txBody>
      </p:sp>
      <p:sp>
        <p:nvSpPr>
          <p:cNvPr id="11" name="chip I · Interfaces pequeñas"/>
          <p:cNvSpPr/>
          <p:nvPr/>
        </p:nvSpPr>
        <p:spPr>
          <a:xfrm>
            <a:off x="6400800" y="29718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Interfaces pequeñas</a:t>
            </a:r>
            <a:endParaRPr lang="en-US" sz="1200" dirty="0"/>
          </a:p>
        </p:txBody>
      </p:sp>
      <p:sp>
        <p:nvSpPr>
          <p:cNvPr id="13" name="chip D · Depender de interfaces"/>
          <p:cNvSpPr/>
          <p:nvPr/>
        </p:nvSpPr>
        <p:spPr>
          <a:xfrm>
            <a:off x="6400800" y="35204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Depender de interfaces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del sistema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de clases, secuencia y base de datos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 de clases: las capas</a:t>
            </a:r>
            <a:endParaRPr lang="en-US" sz="3200" dirty="0"/>
          </a:p>
        </p:txBody>
      </p:sp>
      <p:pic>
        <p:nvPicPr>
          <p:cNvPr id="4" name="Clases de las capas" descr="Clases de las ca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143000"/>
            <a:ext cx="6364224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 de clases: Entity y DTO</a:t>
            </a:r>
            <a:endParaRPr lang="en-US" sz="3200" dirty="0"/>
          </a:p>
        </p:txBody>
      </p:sp>
      <p:pic>
        <p:nvPicPr>
          <p:cNvPr id="4" name="Entity y DTO" descr="Entity y D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393" y="1143000"/>
            <a:ext cx="5297214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 de clases: errores</a:t>
            </a:r>
            <a:endParaRPr lang="en-US" sz="3200" dirty="0"/>
          </a:p>
        </p:txBody>
      </p:sp>
      <p:pic>
        <p:nvPicPr>
          <p:cNvPr id="4" name="Excepciones" descr="Excep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500" y="1143000"/>
            <a:ext cx="6406999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 de secuencia: registrar</a:t>
            </a:r>
            <a:endParaRPr lang="en-US" sz="3200" dirty="0"/>
          </a:p>
        </p:txBody>
      </p:sp>
      <p:pic>
        <p:nvPicPr>
          <p:cNvPr id="4" name="Secuencia crear" descr="Secuencia cr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029" y="1097280"/>
            <a:ext cx="4767943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 de secuencia: número duplicado</a:t>
            </a:r>
            <a:endParaRPr lang="en-US" sz="3200" dirty="0"/>
          </a:p>
        </p:txBody>
      </p:sp>
      <p:pic>
        <p:nvPicPr>
          <p:cNvPr id="4" name="Secuencia duplicada" descr="Secuencia duplic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532" y="1097280"/>
            <a:ext cx="6768935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datos: tarjeta_bip</a:t>
            </a:r>
            <a:endParaRPr lang="en-US" sz="3200" dirty="0"/>
          </a:p>
        </p:txBody>
      </p:sp>
      <p:pic>
        <p:nvPicPr>
          <p:cNvPr id="4" name="Tabla tarjeta_bip" descr="Tabla tarjeta_b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11319"/>
            <a:ext cx="4572000" cy="20295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212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NUMERIC(10,2) y BigDecimal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212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de redondeo con dinero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2120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aunque el service valide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2120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ante peticiones simultáneas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Flyway, no ddl-auto=update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2120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versionado y repetible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ddl-auto=validate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solo comprueba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de eventos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no sabes qué pasó en producción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Logs en las tres capas</a:t>
            </a:r>
            <a:endParaRPr lang="en-US" sz="3200" dirty="0"/>
          </a:p>
        </p:txBody>
      </p:sp>
      <p:graphicFrame>
        <p:nvGraphicFramePr>
          <p:cNvPr id="2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registra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 process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 recibida y terminada; reglas rechazadas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info, warn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GlobalExceptionHandler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inválidos y errores inesperados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warn,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ódigo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4286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364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logs/tarjetas-backend.log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621024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2026-10-15 23:59:41.035 WARN  [main] c.i.t.s.impl.TarjetaBipServiceImpl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--- card number already registered: 12345678 ---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2026-10-15 23:59:41.063 INFO  [main] c.i.t.s.impl.TarjetaBipServiceImpl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--- command receive to update card: 5 ---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Construcción del backend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compilar, levantar y verificar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Ruta de construcción</a:t>
            </a:r>
            <a:endParaRPr lang="en-US" sz="3200" dirty="0"/>
          </a:p>
        </p:txBody>
      </p:sp>
      <p:graphicFrame>
        <p:nvGraphicFramePr>
          <p:cNvPr id="2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construye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Entorno, BD tarjetas_db y proyecto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y Swagger vacío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enums, entity, 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valida la tabla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DTO, excepciones, handler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Arranca sin errores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Mapper, Service e Impl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inyecta los beans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SwaggerConfig y CorsConfig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en Swagger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pruebas en Swagger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en 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desde la pantalla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2: Entity y Repository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TarjetaBip.java (extracto)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484632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"tarjeta_bip")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TarjetaBip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@GeneratedValue(strategy = IDENTITY)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@Column(unique = true, length = 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numero;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@Enumerated(EnumType.STRING)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TipoTarjeta tipo;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BigDecimal saldo;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5760720" y="1234440"/>
            <a:ext cx="3017520" cy="2194560"/>
          </a:xfrm>
          <a:prstGeom prst="roundRect">
            <a:avLst>
              <a:gd name="adj" fmla="val 2500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307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563624"/>
            <a:ext cx="274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TarjetaBipRepository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JpaRepository&lt;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TarjetaBip, Long&gt;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existsByNumero(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numero);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genera la consulta a partir del nombre del método.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3: DTO y manejo de errores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CrearTarjetaRequest (extracto)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42976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CrearTarjetaRequest(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@NotBlank @Pattern(regexp = "\\d{8,10}")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numero,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@NotBlank @Size(max = 100)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titular,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@DecimalMin("0") @DecimalMax("100000")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BigDecimal saldo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{}</a:t>
            </a:r>
            <a:endParaRPr lang="en-US" sz="12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80160"/>
          <a:ext cx="3017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TarjetaNoEncontrada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NumeroTarjetaDuplicado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(@Valid)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inesperado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0352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único: ApiError(fecha, status, error, mensaje, detalles).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4: Service con reglas y logs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8229600" cy="3291840"/>
          </a:xfrm>
          <a:prstGeom prst="roundRect">
            <a:avLst>
              <a:gd name="adj" fmla="val 1667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TarjetaBipServiceImpl.crear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795528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TarjetaResponse crear(CrearTarjetaRequest request)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numero = request.numero().trim();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log.info("--- command receive to create card: {} ---", numero);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(repository.existsByNumero(numero))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log.warn("--- card number already registered: {} ---", numero);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NumeroTarjetaDuplicadaException(numero);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TarjetaBip guardada = repository.save(mapper.aEntidad(request));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log.info("--- finish create card: {} - id {} ---", numero, guardada.getId());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mapper.aRespuesta(guardada);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6: Controller delgado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8229600" cy="2834640"/>
          </a:xfrm>
          <a:prstGeom prst="roundRect">
            <a:avLst>
              <a:gd name="adj" fmla="val 1935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TarjetaBipController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79552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@ApiResponse(responseCode = "201", description = "Tarjeta creada")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ResponseEntity&lt;TarjetaResponse&gt; crear(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HttpServletRequest requestServlet,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@Valid @RequestBody CrearTarjetaRequest request)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log.info("--- start process endpoint: {} {} ---", ...);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TarjetaResponse creada = service.crear(request);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log.info("--- end process endpoint: {} {} ---", ...);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ResponseEntity.created(ubicacion).body(creada);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try/catch: los errores los atiende el GlobalExceptionHandler.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10 pruebas en Swagger</a:t>
            </a:r>
            <a:endParaRPr lang="en-US" sz="3200" dirty="0"/>
          </a:p>
        </p:txBody>
      </p:sp>
      <p:graphicFrame>
        <p:nvGraphicFramePr>
          <p:cNvPr id="3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y obtener id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id 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(POST válido)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+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duplicada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"12"; saldo 200000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con detalle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id 1 a BLOQUEADA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 número intacto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id 2 dos veces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y luego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después en la BD: SELECT * FROM tarjeta_bip ORDER BY id;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7: pruebas automáticas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TarjetaBipControllerTest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20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· crear 201 · número inválido 400 · duplicado 409 · inexistente 404</a:t>
            </a:r>
            <a:endParaRPr lang="en-US" sz="1500" dirty="0"/>
          </a:p>
        </p:txBody>
      </p:sp>
      <p:sp>
        <p:nvSpPr>
          <p:cNvPr id="7" name="tarjeta"/>
          <p:cNvSpPr/>
          <p:nvPr/>
        </p:nvSpPr>
        <p:spPr>
          <a:xfrm>
            <a:off x="4663440" y="123444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TarjetaBipServiceImplTest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920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datos y queda ACTIVA · no permite duplicado · no existe · edita sin cambiar número · elimina solo si existe</a:t>
            </a:r>
            <a:endParaRPr lang="en-US" sz="1500" dirty="0"/>
          </a:p>
        </p:txBody>
      </p:sp>
      <p:sp>
        <p:nvSpPr>
          <p:cNvPr id="10" name="código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1330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test    # 10 pruebas en verde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8: Angular conectado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 front-back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44805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proxy.conf.json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"/api": { "target": "http://localhost:8082"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TarjetaApi: único lugar con rutas HTTP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listar():  GET    /api/tarjetas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crear():   POST   /api/tarjetas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eliminar(): DELETE /api/tarjetas/{id}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signals recalculan la pantalla: busqueda cambia, tarjetasFiltradas se recalcula y el HTML se redibuja.</a:t>
            </a:r>
            <a:endParaRPr lang="en-US" sz="1500" dirty="0"/>
          </a:p>
        </p:txBody>
      </p:sp>
      <p:sp>
        <p:nvSpPr>
          <p:cNvPr id="8" name="código"/>
          <p:cNvSpPr/>
          <p:nvPr/>
        </p:nvSpPr>
        <p:spPr>
          <a:xfrm>
            <a:off x="5486400" y="329184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3364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tarjetas-frontend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36210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y cierre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frecuentes y actividad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Problemas frecuentes</a:t>
            </a:r>
            <a:endParaRPr lang="en-US" sz="3200" dirty="0"/>
          </a:p>
        </p:txBody>
      </p:sp>
      <p:graphicFrame>
        <p:nvGraphicFramePr>
          <p:cNvPr id="3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authentication failed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DB_PASSWORD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"tarjetas_db" does not exist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DATABASE tarjetas_db;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8082 was already in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Detener el otro proceso o definir SERVER_PORT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Schema-validation: missing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Entity contra V1__...sql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qualifying bean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@Service, @Component o @Repository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checksum mismatch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editar migraciones aplicadas; usar 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find symbol builder()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Activar Lombok en el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 en parejas</a:t>
            </a:r>
            <a:endParaRPr lang="en-US" sz="3200" dirty="0"/>
          </a:p>
        </p:txBody>
      </p:sp>
      <p:sp>
        <p:nvSpPr>
          <p:cNvPr id="4" name="círculo 1"/>
          <p:cNvSpPr/>
          <p:nvPr/>
        </p:nvSpPr>
        <p:spPr>
          <a:xfrm>
            <a:off x="457200" y="1280160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261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tarjetas-backend-base (pasos 2 a 6)</a:t>
            </a:r>
            <a:endParaRPr lang="en-US" sz="1800" dirty="0"/>
          </a:p>
        </p:txBody>
      </p:sp>
      <p:sp>
        <p:nvSpPr>
          <p:cNvPr id="7" name="círculo 2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las 10 pruebas en Swagger y revisar la BD</a:t>
            </a:r>
            <a:endParaRPr lang="en-US" sz="1800" dirty="0"/>
          </a:p>
        </p:txBody>
      </p:sp>
      <p:sp>
        <p:nvSpPr>
          <p:cNvPr id="10" name="círculo 3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3957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./mvnw test: 10 en verde</a:t>
            </a:r>
            <a:endParaRPr lang="en-US" sz="1800" dirty="0"/>
          </a:p>
        </p:txBody>
      </p:sp>
      <p:sp>
        <p:nvSpPr>
          <p:cNvPr id="13" name="círculo 4"/>
          <p:cNvSpPr/>
          <p:nvPr/>
        </p:nvSpPr>
        <p:spPr>
          <a:xfrm>
            <a:off x="457200" y="2980944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626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tarjetas-backend</a:t>
            </a:r>
            <a:endParaRPr lang="en-US" sz="1800" dirty="0"/>
          </a:p>
        </p:txBody>
      </p:sp>
      <p:sp>
        <p:nvSpPr>
          <p:cNvPr id="16" name="círculo 5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5295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editar y eliminar desde Angular</a:t>
            </a:r>
            <a:endParaRPr lang="en-US" sz="1800" dirty="0"/>
          </a:p>
        </p:txBody>
      </p:sp>
      <p:sp>
        <p:nvSpPr>
          <p:cNvPr id="19" name="círculo 6"/>
          <p:cNvSpPr/>
          <p:nvPr/>
        </p:nvSpPr>
        <p:spPr>
          <a:xfrm>
            <a:off x="457200" y="4114800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96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las líneas start/end y el WARN en los logs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Preguntas de cierre</a:t>
            </a:r>
            <a:endParaRPr lang="en-US" sz="3200" dirty="0"/>
          </a:p>
        </p:txBody>
      </p:sp>
      <p:sp>
        <p:nvSpPr>
          <p:cNvPr id="4" name="círculo 1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2161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controller depende de la interfaz del service?</a:t>
            </a:r>
            <a:endParaRPr lang="en-US" sz="1700" dirty="0"/>
          </a:p>
        </p:txBody>
      </p:sp>
      <p:sp>
        <p:nvSpPr>
          <p:cNvPr id="7" name="círculo 2"/>
          <p:cNvSpPr/>
          <p:nvPr/>
        </p:nvSpPr>
        <p:spPr>
          <a:xfrm>
            <a:off x="457200" y="1801368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y qué NO hace cada capa?</a:t>
            </a:r>
            <a:endParaRPr lang="en-US" sz="1700" dirty="0"/>
          </a:p>
        </p:txBody>
      </p:sp>
      <p:sp>
        <p:nvSpPr>
          <p:cNvPr id="10" name="círculo 3"/>
          <p:cNvSpPr/>
          <p:nvPr/>
        </p:nvSpPr>
        <p:spPr>
          <a:xfrm>
            <a:off x="457200" y="2368296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350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DTO y Entity son clases distintas?</a:t>
            </a:r>
            <a:endParaRPr lang="en-US" sz="1700" dirty="0"/>
          </a:p>
        </p:txBody>
      </p:sp>
      <p:sp>
        <p:nvSpPr>
          <p:cNvPr id="13" name="círculo 4"/>
          <p:cNvSpPr/>
          <p:nvPr/>
        </p:nvSpPr>
        <p:spPr>
          <a:xfrm>
            <a:off x="457200" y="2935224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16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tres niveles se valida y por qué no basta uno?</a:t>
            </a:r>
            <a:endParaRPr lang="en-US" sz="1700" dirty="0"/>
          </a:p>
        </p:txBody>
      </p:sp>
      <p:sp>
        <p:nvSpPr>
          <p:cNvPr id="16" name="círculo 5"/>
          <p:cNvSpPr/>
          <p:nvPr/>
        </p:nvSpPr>
        <p:spPr>
          <a:xfrm>
            <a:off x="457200" y="3502152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3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traduce la excepción de duplicado a un 409?</a:t>
            </a:r>
            <a:endParaRPr lang="en-US" sz="1700" dirty="0"/>
          </a:p>
        </p:txBody>
      </p:sp>
      <p:sp>
        <p:nvSpPr>
          <p:cNvPr id="19" name="círculo 6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dice cada nivel de log en este proyecto?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Próxima clase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las capas en un nuevo módulo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Desafío: agregar el campo color con una migración V3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rjetas Bip IPSS">
  <a:themeElements>
    <a:clrScheme name="Tarjetas Bip IPSS">
      <a:dk1>
        <a:srgbClr val="111C2D"/>
      </a:dk1>
      <a:lt1>
        <a:srgbClr val="FFFFFF"/>
      </a:lt1>
      <a:dk2>
        <a:srgbClr val="102B42"/>
      </a:dk2>
      <a:lt2>
        <a:srgbClr val="F3F5F9"/>
      </a:lt2>
      <a:accent1>
        <a:srgbClr val="F97316"/>
      </a:accent1>
      <a:accent2>
        <a:srgbClr val="15803D"/>
      </a:accent2>
      <a:accent3>
        <a:srgbClr val="1D4ED8"/>
      </a:accent3>
      <a:accent4>
        <a:srgbClr val="6D28D9"/>
      </a:accent4>
      <a:accent5>
        <a:srgbClr val="B45309"/>
      </a:accent5>
      <a:accent6>
        <a:srgbClr val="BE185D"/>
      </a:accent6>
      <a:hlink>
        <a:srgbClr val="1D4ED8"/>
      </a:hlink>
      <a:folHlink>
        <a:srgbClr val="6D28D9"/>
      </a:folHlink>
    </a:clrScheme>
    <a:fontScheme name="Tarjetas Bip IPSS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Instituto Profesional San Sebastián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de tarjetas Bip - Clase 2</dc:title>
  <dc:subject>PptxGenJS Presentation</dc:subject>
  <dc:creator>Desarrollo de Software Web II</dc:creator>
  <cp:lastModifiedBy>Desarrollo de Software Web II</cp:lastModifiedBy>
  <cp:revision>1</cp:revision>
  <dcterms:created xsi:type="dcterms:W3CDTF">2026-10-16T21:58:38Z</dcterms:created>
  <dcterms:modified xsi:type="dcterms:W3CDTF">2026-10-16T21:58:38Z</dcterms:modified>
</cp:coreProperties>
</file>